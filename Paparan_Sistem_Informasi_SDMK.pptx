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1695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Cover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49808" y="1152144"/>
            <a:ext cx="97840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3600" b="1">
                <a:solidFill>
                  <a:srgbClr val="FFFFFF"/>
                </a:solidFill>
              </a:rPr>
              <a:t>Paparan Sistem Informasi</a:t>
            </a:r>
            <a:endParaRPr lang="id-ID" sz="3600"/>
          </a:p>
          <a:p>
            <a:pPr algn="l" marL="0" indent="0">
              <a:buNone/>
              <a:spcAft>
                <a:spcPts val="0"/>
              </a:spcAft>
            </a:pPr>
            <a:r>
              <a:rPr lang="id-ID" sz="3600" b="1">
                <a:solidFill>
                  <a:srgbClr val="FFFFFF"/>
                </a:solidFill>
              </a:rPr>
              <a:t>SDM Kesehatan DKI Jakarta</a:t>
            </a:r>
            <a:endParaRPr lang="id-ID" sz="3600"/>
          </a:p>
        </p:txBody>
      </p:sp>
      <p:sp>
        <p:nvSpPr>
          <p:cNvPr id="5" name="Text 5"/>
          <p:cNvSpPr txBox="1"/>
          <p:nvPr/>
        </p:nvSpPr>
        <p:spPr>
          <a:xfrm>
            <a:off x="804672" y="2907792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700">
                <a:solidFill>
                  <a:srgbClr val="DBEAFE"/>
                </a:solidFill>
              </a:rPr>
              <a:t>HRIS internal untuk pengelolaan data pegawai, UKPD, riwayat kepegawaian, usulan administrasi, audit log, dan integrasi AI/n8n.</a:t>
            </a:r>
            <a:endParaRPr lang="id-ID" sz="1700"/>
          </a:p>
        </p:txBody>
      </p:sp>
      <p:sp>
        <p:nvSpPr>
          <p:cNvPr id="6" name="Text 6"/>
          <p:cNvSpPr txBox="1"/>
          <p:nvPr/>
        </p:nvSpPr>
        <p:spPr>
          <a:xfrm>
            <a:off x="822960" y="632764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050">
                <a:solidFill>
                  <a:srgbClr val="FFFFFF"/>
                </a:solidFill>
              </a:rPr>
              <a:t>Disusun dari struktur aplikasi dan database proyek</a:t>
            </a:r>
            <a:endParaRPr lang="id-ID" sz="1050"/>
          </a:p>
        </p:txBody>
      </p:sp>
      <p:sp>
        <p:nvSpPr>
          <p:cNvPr id="901" name="Text 901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1</a:t>
            </a:r>
            <a:endParaRPr lang="id-ID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Agenda Paparan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Urutan pembahasan sistem dari sisi fungsi, data, keamanan, dan AI.</a:t>
            </a:r>
            <a:endParaRPr lang="id-ID" sz="1300"/>
          </a:p>
        </p:txBody>
      </p:sp>
      <p:sp>
        <p:nvSpPr>
          <p:cNvPr id="20" name="Text 20"/>
          <p:cNvSpPr txBox="1"/>
          <p:nvPr/>
        </p:nvSpPr>
        <p:spPr>
          <a:xfrm>
            <a:off x="868680" y="1874520"/>
            <a:ext cx="4846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500" b="1">
                <a:solidFill>
                  <a:srgbClr val="334155"/>
                </a:solidFill>
              </a:rPr>
              <a:t>1. Gambaran umum sistem</a:t>
            </a:r>
            <a:endParaRPr lang="id-ID" sz="1500"/>
          </a:p>
        </p:txBody>
      </p:sp>
      <p:sp>
        <p:nvSpPr>
          <p:cNvPr id="21" name="Text 21"/>
          <p:cNvSpPr txBox="1"/>
          <p:nvPr/>
        </p:nvSpPr>
        <p:spPr>
          <a:xfrm>
            <a:off x="6446520" y="1874520"/>
            <a:ext cx="4846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500" b="1">
                <a:solidFill>
                  <a:srgbClr val="334155"/>
                </a:solidFill>
              </a:rPr>
              <a:t>2. Tujuan dan manfaat</a:t>
            </a:r>
            <a:endParaRPr lang="id-ID" sz="1500"/>
          </a:p>
        </p:txBody>
      </p:sp>
      <p:sp>
        <p:nvSpPr>
          <p:cNvPr id="22" name="Text 22"/>
          <p:cNvSpPr txBox="1"/>
          <p:nvPr/>
        </p:nvSpPr>
        <p:spPr>
          <a:xfrm>
            <a:off x="868680" y="2697480"/>
            <a:ext cx="4846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500" b="1">
                <a:solidFill>
                  <a:srgbClr val="334155"/>
                </a:solidFill>
              </a:rPr>
              <a:t>3. Modul utama aplikasi</a:t>
            </a:r>
            <a:endParaRPr lang="id-ID" sz="1500"/>
          </a:p>
        </p:txBody>
      </p:sp>
      <p:sp>
        <p:nvSpPr>
          <p:cNvPr id="23" name="Text 23"/>
          <p:cNvSpPr txBox="1"/>
          <p:nvPr/>
        </p:nvSpPr>
        <p:spPr>
          <a:xfrm>
            <a:off x="6446520" y="2697480"/>
            <a:ext cx="4846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500" b="1">
                <a:solidFill>
                  <a:srgbClr val="334155"/>
                </a:solidFill>
              </a:rPr>
              <a:t>4. Struktur database</a:t>
            </a:r>
            <a:endParaRPr lang="id-ID" sz="1500"/>
          </a:p>
        </p:txBody>
      </p:sp>
      <p:sp>
        <p:nvSpPr>
          <p:cNvPr id="24" name="Text 24"/>
          <p:cNvSpPr txBox="1"/>
          <p:nvPr/>
        </p:nvSpPr>
        <p:spPr>
          <a:xfrm>
            <a:off x="868680" y="3520440"/>
            <a:ext cx="4846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500" b="1">
                <a:solidFill>
                  <a:srgbClr val="334155"/>
                </a:solidFill>
              </a:rPr>
              <a:t>5. Alur kerja pengguna</a:t>
            </a:r>
            <a:endParaRPr lang="id-ID" sz="1500"/>
          </a:p>
        </p:txBody>
      </p:sp>
      <p:sp>
        <p:nvSpPr>
          <p:cNvPr id="25" name="Text 25"/>
          <p:cNvSpPr txBox="1"/>
          <p:nvPr/>
        </p:nvSpPr>
        <p:spPr>
          <a:xfrm>
            <a:off x="6446520" y="3520440"/>
            <a:ext cx="4846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500" b="1">
                <a:solidFill>
                  <a:srgbClr val="334155"/>
                </a:solidFill>
              </a:rPr>
              <a:t>6. Keamanan dan audit</a:t>
            </a:r>
            <a:endParaRPr lang="id-ID" sz="1500"/>
          </a:p>
        </p:txBody>
      </p:sp>
      <p:sp>
        <p:nvSpPr>
          <p:cNvPr id="26" name="Text 26"/>
          <p:cNvSpPr txBox="1"/>
          <p:nvPr/>
        </p:nvSpPr>
        <p:spPr>
          <a:xfrm>
            <a:off x="868680" y="4343400"/>
            <a:ext cx="4846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500" b="1">
                <a:solidFill>
                  <a:srgbClr val="334155"/>
                </a:solidFill>
              </a:rPr>
              <a:t>7. Integrasi AI dan n8n</a:t>
            </a:r>
            <a:endParaRPr lang="id-ID" sz="1500"/>
          </a:p>
        </p:txBody>
      </p:sp>
      <p:sp>
        <p:nvSpPr>
          <p:cNvPr id="27" name="Text 27"/>
          <p:cNvSpPr txBox="1"/>
          <p:nvPr/>
        </p:nvSpPr>
        <p:spPr>
          <a:xfrm>
            <a:off x="6446520" y="4343400"/>
            <a:ext cx="4846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500" b="1">
                <a:solidFill>
                  <a:srgbClr val="334155"/>
                </a:solidFill>
              </a:rPr>
              <a:t>8. Kesimpulan dan pengembangan</a:t>
            </a:r>
            <a:endParaRPr lang="id-ID" sz="1500"/>
          </a:p>
        </p:txBody>
      </p:sp>
      <p:sp>
        <p:nvSpPr>
          <p:cNvPr id="902" name="Text 902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2</a:t>
            </a:r>
            <a:endParaRPr lang="id-ID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Gambaran Umum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Aplikasi HRIS internal untuk pengelolaan SDM Kesehatan DKI Jakarta.</a:t>
            </a:r>
            <a:endParaRPr lang="id-ID" sz="1300"/>
          </a:p>
        </p:txBody>
      </p:sp>
      <p:sp>
        <p:nvSpPr>
          <p:cNvPr id="20" name="Accent Bar"/>
          <p:cNvSpPr/>
          <p:nvPr/>
        </p:nvSpPr>
        <p:spPr>
          <a:xfrm>
            <a:off x="566928" y="1847088"/>
            <a:ext cx="109728" cy="4315968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" y="1874520"/>
            <a:ext cx="10469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Aplikasi berbasis web dengan Next.js dan PostgreSQL.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Mengelola data pegawai, UKPD, riwayat kepegawaian, usulan, monitoring PLT/PLH, QnA, dan AI Assistant.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Dirancang untuk data terpusat, pencarian cepat, pembatasan akses, dan audit perubahan.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Mendukung integrasi AI melalui n8n agar jawaban tetap berasal dari tool dan data yang terverifikasi.</a:t>
            </a:r>
            <a:endParaRPr lang="id-ID" sz="1450"/>
          </a:p>
        </p:txBody>
      </p:sp>
      <p:sp>
        <p:nvSpPr>
          <p:cNvPr id="903" name="Text 903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3</a:t>
            </a:r>
            <a:endParaRPr lang="id-ID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Tujuan dan Manfaat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Sistem membantu pekerjaan administrasi kepegawaian agar lebih rapi dan terukur.</a:t>
            </a:r>
            <a:endParaRPr lang="id-ID" sz="1300"/>
          </a:p>
        </p:txBody>
      </p:sp>
      <p:sp>
        <p:nvSpPr>
          <p:cNvPr id="20" name="Accent Bar"/>
          <p:cNvSpPr/>
          <p:nvPr/>
        </p:nvSpPr>
        <p:spPr>
          <a:xfrm>
            <a:off x="566928" y="1847088"/>
            <a:ext cx="109728" cy="4315968"/>
          </a:xfrm>
          <a:prstGeom prst="round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" y="1874520"/>
            <a:ext cx="10469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Menyediakan satu sumber data pegawai yang lengkap dan konsisten.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Mempercepat pencarian data berdasarkan nama, NIP, NRK, UKPD, wilayah, jabatan, pangkat, atau pendidikan.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Mendukung proses usulan mutasi, pemutusan jabatan fungsional, dan monitoring PLT/PLH.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Meningkatkan keamanan melalui role-based access control dan audit log.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Menyiapkan fondasi AI Assistant untuk ringkasan, pencarian, dan validasi data.</a:t>
            </a:r>
            <a:endParaRPr lang="id-ID" sz="1450"/>
          </a:p>
        </p:txBody>
      </p:sp>
      <p:sp>
        <p:nvSpPr>
          <p:cNvPr id="904" name="Text 904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4</a:t>
            </a:r>
            <a:endParaRPr lang="id-ID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Modul Utama Aplikasi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Fitur disusun untuk mendukung operasional kepegawaian end-to-end.</a:t>
            </a:r>
            <a:endParaRPr lang="id-ID" sz="1300"/>
          </a:p>
        </p:txBody>
      </p:sp>
      <p:sp>
        <p:nvSpPr>
          <p:cNvPr id="30" name="Text 30"/>
          <p:cNvSpPr txBox="1"/>
          <p:nvPr/>
        </p:nvSpPr>
        <p:spPr>
          <a:xfrm>
            <a:off x="658368" y="1828800"/>
            <a:ext cx="33832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250"/>
              </a:spcAft>
            </a:pPr>
            <a:r>
              <a:rPr lang="id-ID" sz="1450" b="1">
                <a:solidFill>
                  <a:srgbClr val="153E75"/>
                </a:solidFill>
              </a:rPr>
              <a:t>Data Pegawai</a:t>
            </a:r>
            <a:endParaRPr lang="id-ID" sz="1450"/>
          </a:p>
          <a:p>
            <a:pPr algn="l" marL="0" indent="0">
              <a:buNone/>
              <a:spcAft>
                <a:spcPts val="0"/>
              </a:spcAft>
            </a:pPr>
            <a:r>
              <a:rPr lang="id-ID" sz="1050">
                <a:solidFill>
                  <a:srgbClr val="334155"/>
                </a:solidFill>
              </a:rPr>
              <a:t>Master pegawai, identitas, jabatan, pendidikan, pangkat, kontak, dan status.</a:t>
            </a:r>
            <a:endParaRPr lang="id-ID" sz="1050"/>
          </a:p>
        </p:txBody>
      </p:sp>
      <p:sp>
        <p:nvSpPr>
          <p:cNvPr id="31" name="Text 31"/>
          <p:cNvSpPr txBox="1"/>
          <p:nvPr/>
        </p:nvSpPr>
        <p:spPr>
          <a:xfrm>
            <a:off x="4480560" y="1828800"/>
            <a:ext cx="33832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250"/>
              </a:spcAft>
            </a:pPr>
            <a:r>
              <a:rPr lang="id-ID" sz="1450" b="1">
                <a:solidFill>
                  <a:srgbClr val="153E75"/>
                </a:solidFill>
              </a:rPr>
              <a:t>UKPD &amp; Wilayah</a:t>
            </a:r>
            <a:endParaRPr lang="id-ID" sz="1450"/>
          </a:p>
          <a:p>
            <a:pPr algn="l" marL="0" indent="0">
              <a:buNone/>
              <a:spcAft>
                <a:spcPts val="0"/>
              </a:spcAft>
            </a:pPr>
            <a:r>
              <a:rPr lang="id-ID" sz="1050">
                <a:solidFill>
                  <a:srgbClr val="334155"/>
                </a:solidFill>
              </a:rPr>
              <a:t>Master unit kerja serta pembatasan akses berdasarkan UKPD/wilayah.</a:t>
            </a:r>
            <a:endParaRPr lang="id-ID" sz="1050"/>
          </a:p>
        </p:txBody>
      </p:sp>
      <p:sp>
        <p:nvSpPr>
          <p:cNvPr id="32" name="Text 32"/>
          <p:cNvSpPr txBox="1"/>
          <p:nvPr/>
        </p:nvSpPr>
        <p:spPr>
          <a:xfrm>
            <a:off x="8302752" y="1828800"/>
            <a:ext cx="33832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250"/>
              </a:spcAft>
            </a:pPr>
            <a:r>
              <a:rPr lang="id-ID" sz="1450" b="1">
                <a:solidFill>
                  <a:srgbClr val="153E75"/>
                </a:solidFill>
              </a:rPr>
              <a:t>DRH Pegawai</a:t>
            </a:r>
            <a:endParaRPr lang="id-ID" sz="1450"/>
          </a:p>
          <a:p>
            <a:pPr algn="l" marL="0" indent="0">
              <a:buNone/>
              <a:spcAft>
                <a:spcPts val="0"/>
              </a:spcAft>
            </a:pPr>
            <a:r>
              <a:rPr lang="id-ID" sz="1050">
                <a:solidFill>
                  <a:srgbClr val="334155"/>
                </a:solidFill>
              </a:rPr>
              <a:t>Alamat, keluarga, jabatan, pangkat, pendidikan, SKP, penghargaan, disiplin.</a:t>
            </a:r>
            <a:endParaRPr lang="id-ID" sz="1050"/>
          </a:p>
        </p:txBody>
      </p:sp>
      <p:sp>
        <p:nvSpPr>
          <p:cNvPr id="33" name="Text 33"/>
          <p:cNvSpPr txBox="1"/>
          <p:nvPr/>
        </p:nvSpPr>
        <p:spPr>
          <a:xfrm>
            <a:off x="658368" y="3584448"/>
            <a:ext cx="33832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250"/>
              </a:spcAft>
            </a:pPr>
            <a:r>
              <a:rPr lang="id-ID" sz="1450" b="1">
                <a:solidFill>
                  <a:srgbClr val="153E75"/>
                </a:solidFill>
              </a:rPr>
              <a:t>Usulan</a:t>
            </a:r>
            <a:endParaRPr lang="id-ID" sz="1450"/>
          </a:p>
          <a:p>
            <a:pPr algn="l" marL="0" indent="0">
              <a:buNone/>
              <a:spcAft>
                <a:spcPts val="0"/>
              </a:spcAft>
            </a:pPr>
            <a:r>
              <a:rPr lang="id-ID" sz="1050">
                <a:solidFill>
                  <a:srgbClr val="334155"/>
                </a:solidFill>
              </a:rPr>
              <a:t>Mutasi dan pemutusan jabatan fungsional lengkap dengan status dan dokumen.</a:t>
            </a:r>
            <a:endParaRPr lang="id-ID" sz="1050"/>
          </a:p>
        </p:txBody>
      </p:sp>
      <p:sp>
        <p:nvSpPr>
          <p:cNvPr id="34" name="Text 34"/>
          <p:cNvSpPr txBox="1"/>
          <p:nvPr/>
        </p:nvSpPr>
        <p:spPr>
          <a:xfrm>
            <a:off x="4480560" y="3584448"/>
            <a:ext cx="33832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250"/>
              </a:spcAft>
            </a:pPr>
            <a:r>
              <a:rPr lang="id-ID" sz="1450" b="1">
                <a:solidFill>
                  <a:srgbClr val="153E75"/>
                </a:solidFill>
              </a:rPr>
              <a:t>PLT/PLH</a:t>
            </a:r>
            <a:endParaRPr lang="id-ID" sz="1450"/>
          </a:p>
          <a:p>
            <a:pPr algn="l" marL="0" indent="0">
              <a:buNone/>
              <a:spcAft>
                <a:spcPts val="0"/>
              </a:spcAft>
            </a:pPr>
            <a:r>
              <a:rPr lang="id-ID" sz="1050">
                <a:solidFill>
                  <a:srgbClr val="334155"/>
                </a:solidFill>
              </a:rPr>
              <a:t>Monitoring pejabat sementara, jabatan tujuan, dan periode penugasan.</a:t>
            </a:r>
            <a:endParaRPr lang="id-ID" sz="1050"/>
          </a:p>
        </p:txBody>
      </p:sp>
      <p:sp>
        <p:nvSpPr>
          <p:cNvPr id="35" name="Text 35"/>
          <p:cNvSpPr txBox="1"/>
          <p:nvPr/>
        </p:nvSpPr>
        <p:spPr>
          <a:xfrm>
            <a:off x="8302752" y="3584448"/>
            <a:ext cx="33832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250"/>
              </a:spcAft>
            </a:pPr>
            <a:r>
              <a:rPr lang="id-ID" sz="1450" b="1">
                <a:solidFill>
                  <a:srgbClr val="153E75"/>
                </a:solidFill>
              </a:rPr>
              <a:t>AI &amp; QnA</a:t>
            </a:r>
            <a:endParaRPr lang="id-ID" sz="1450"/>
          </a:p>
          <a:p>
            <a:pPr algn="l" marL="0" indent="0">
              <a:buNone/>
              <a:spcAft>
                <a:spcPts val="0"/>
              </a:spcAft>
            </a:pPr>
            <a:r>
              <a:rPr lang="id-ID" sz="1050">
                <a:solidFill>
                  <a:srgbClr val="334155"/>
                </a:solidFill>
              </a:rPr>
              <a:t>Chat internal, QnA publik, knowledge base, audit AI, dan workflow n8n.</a:t>
            </a:r>
            <a:endParaRPr lang="id-ID" sz="1050"/>
          </a:p>
        </p:txBody>
      </p:sp>
      <p:sp>
        <p:nvSpPr>
          <p:cNvPr id="905" name="Text 905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5</a:t>
            </a:r>
            <a:endParaRPr lang="id-ID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Data Utama Pegawai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Tabel pegawai menyimpan profil utama SDM kesehatan.</a:t>
            </a:r>
            <a:endParaRPr lang="id-ID" sz="1300"/>
          </a:p>
        </p:txBody>
      </p:sp>
      <p:sp>
        <p:nvSpPr>
          <p:cNvPr id="20" name="Accent Bar"/>
          <p:cNvSpPr/>
          <p:nvPr/>
        </p:nvSpPr>
        <p:spPr>
          <a:xfrm>
            <a:off x="566928" y="1847088"/>
            <a:ext cx="109728" cy="4315968"/>
          </a:xfrm>
          <a:prstGeom prst="roundRect">
            <a:avLst/>
          </a:prstGeom>
          <a:solidFill>
            <a:srgbClr val="0891B2"/>
          </a:solidFill>
          <a:ln w="9525">
            <a:solidFill>
              <a:srgbClr val="0891B2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" y="1874520"/>
            <a:ext cx="10469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Identitas: nama, NIK, NIP, NRK, jenis kelamin, tempat dan tanggal lahir, agama.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Organisasi: nama UKPD, jenis UKPD, wilayah, jenis pegawai, status rumpun, jenis kontrak.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Jabatan dan karier: jabatan ORB, jabatan Menpan, struktur atasan, pangkat/golongan, TMT pangkat.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Pendidikan dan kontak: jenjang pendidikan, program studi, universitas, nomor HP, email, BPJS.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Status: kondisi pegawai, status perkawinan, gelar depan/belakang, TMT kerja UKPD.</a:t>
            </a:r>
            <a:endParaRPr lang="id-ID" sz="1450"/>
          </a:p>
        </p:txBody>
      </p:sp>
      <p:sp>
        <p:nvSpPr>
          <p:cNvPr id="906" name="Text 906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6</a:t>
            </a:r>
            <a:endParaRPr lang="id-ID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Struktur Database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Database PostgreSQL berpusat pada tabel pegawai dan UKPD.</a:t>
            </a:r>
            <a:endParaRPr lang="id-ID" sz="1300"/>
          </a:p>
        </p:txBody>
      </p:sp>
      <p:sp>
        <p:nvSpPr>
          <p:cNvPr id="50" name="Text 50"/>
          <p:cNvSpPr txBox="1"/>
          <p:nvPr/>
        </p:nvSpPr>
        <p:spPr>
          <a:xfrm>
            <a:off x="658368" y="1755648"/>
            <a:ext cx="4800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180"/>
              </a:spcAft>
            </a:pPr>
            <a:r>
              <a:rPr lang="id-ID" sz="1250" b="1">
                <a:solidFill>
                  <a:srgbClr val="153E75"/>
                </a:solidFill>
              </a:rPr>
              <a:t>Core HRIS</a:t>
            </a:r>
            <a:endParaRPr lang="id-ID" sz="1250"/>
          </a:p>
          <a:p>
            <a:pPr algn="l" marL="0" indent="0">
              <a:buNone/>
              <a:spcAft>
                <a:spcPts val="0"/>
              </a:spcAft>
            </a:pPr>
            <a:r>
              <a:rPr lang="id-ID" sz="830">
                <a:solidFill>
                  <a:srgbClr val="334155"/>
                </a:solidFill>
              </a:rPr>
              <a:t>ukpd, pegawai, alamat, keluarga, riwayat_jabatan, riwayat_pangkat, riwayat_pendidikan</a:t>
            </a:r>
            <a:endParaRPr lang="id-ID" sz="830"/>
          </a:p>
        </p:txBody>
      </p:sp>
      <p:sp>
        <p:nvSpPr>
          <p:cNvPr id="51" name="Text 51"/>
          <p:cNvSpPr txBox="1"/>
          <p:nvPr/>
        </p:nvSpPr>
        <p:spPr>
          <a:xfrm>
            <a:off x="6236208" y="1755648"/>
            <a:ext cx="4800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180"/>
              </a:spcAft>
            </a:pPr>
            <a:r>
              <a:rPr lang="id-ID" sz="1250" b="1">
                <a:solidFill>
                  <a:srgbClr val="153E75"/>
                </a:solidFill>
              </a:rPr>
              <a:t>Administrasi</a:t>
            </a:r>
            <a:endParaRPr lang="id-ID" sz="1250"/>
          </a:p>
          <a:p>
            <a:pPr algn="l" marL="0" indent="0">
              <a:buNone/>
              <a:spcAft>
                <a:spcPts val="0"/>
              </a:spcAft>
            </a:pPr>
            <a:r>
              <a:rPr lang="id-ID" sz="830">
                <a:solidFill>
                  <a:srgbClr val="334155"/>
                </a:solidFill>
              </a:rPr>
              <a:t>usulan_mutasi, usulan_pjf_stop, pejabat_plt_plh</a:t>
            </a:r>
            <a:endParaRPr lang="id-ID" sz="830"/>
          </a:p>
        </p:txBody>
      </p:sp>
      <p:sp>
        <p:nvSpPr>
          <p:cNvPr id="52" name="Text 52"/>
          <p:cNvSpPr txBox="1"/>
          <p:nvPr/>
        </p:nvSpPr>
        <p:spPr>
          <a:xfrm>
            <a:off x="658368" y="3108960"/>
            <a:ext cx="4800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180"/>
              </a:spcAft>
            </a:pPr>
            <a:r>
              <a:rPr lang="id-ID" sz="1250" b="1">
                <a:solidFill>
                  <a:srgbClr val="153E75"/>
                </a:solidFill>
              </a:rPr>
              <a:t>Keamanan</a:t>
            </a:r>
            <a:endParaRPr lang="id-ID" sz="1250"/>
          </a:p>
          <a:p>
            <a:pPr algn="l" marL="0" indent="0">
              <a:buNone/>
              <a:spcAft>
                <a:spcPts val="0"/>
              </a:spcAft>
            </a:pPr>
            <a:r>
              <a:rPr lang="id-ID" sz="830">
                <a:solidFill>
                  <a:srgbClr val="334155"/>
                </a:solidFill>
              </a:rPr>
              <a:t>roles, app_users, audit_logs, ukpd_passkeys</a:t>
            </a:r>
            <a:endParaRPr lang="id-ID" sz="830"/>
          </a:p>
        </p:txBody>
      </p:sp>
      <p:sp>
        <p:nvSpPr>
          <p:cNvPr id="53" name="Text 53"/>
          <p:cNvSpPr txBox="1"/>
          <p:nvPr/>
        </p:nvSpPr>
        <p:spPr>
          <a:xfrm>
            <a:off x="6236208" y="3108960"/>
            <a:ext cx="4800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180"/>
              </a:spcAft>
            </a:pPr>
            <a:r>
              <a:rPr lang="id-ID" sz="1250" b="1">
                <a:solidFill>
                  <a:srgbClr val="153E75"/>
                </a:solidFill>
              </a:rPr>
              <a:t>AI &amp; Chat</a:t>
            </a:r>
            <a:endParaRPr lang="id-ID" sz="1250"/>
          </a:p>
          <a:p>
            <a:pPr algn="l" marL="0" indent="0">
              <a:buNone/>
              <a:spcAft>
                <a:spcPts val="0"/>
              </a:spcAft>
            </a:pPr>
            <a:r>
              <a:rPr lang="id-ID" sz="830">
                <a:solidFill>
                  <a:srgbClr val="334155"/>
                </a:solidFill>
              </a:rPr>
              <a:t>ai_documents, ai_extraction_results, chat_sessions, internal_chat_sessions, ai_agent_tasks</a:t>
            </a:r>
            <a:endParaRPr lang="id-ID" sz="830"/>
          </a:p>
        </p:txBody>
      </p:sp>
      <p:sp>
        <p:nvSpPr>
          <p:cNvPr id="54" name="Text 54"/>
          <p:cNvSpPr txBox="1"/>
          <p:nvPr/>
        </p:nvSpPr>
        <p:spPr>
          <a:xfrm>
            <a:off x="658368" y="4462272"/>
            <a:ext cx="4800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180"/>
              </a:spcAft>
            </a:pPr>
            <a:r>
              <a:rPr lang="id-ID" sz="1250" b="1">
                <a:solidFill>
                  <a:srgbClr val="153E75"/>
                </a:solidFill>
              </a:rPr>
              <a:t>Knowledge Base</a:t>
            </a:r>
            <a:endParaRPr lang="id-ID" sz="1250"/>
          </a:p>
          <a:p>
            <a:pPr algn="l" marL="0" indent="0">
              <a:buNone/>
              <a:spcAft>
                <a:spcPts val="0"/>
              </a:spcAft>
            </a:pPr>
            <a:r>
              <a:rPr lang="id-ID" sz="830">
                <a:solidFill>
                  <a:srgbClr val="334155"/>
                </a:solidFill>
              </a:rPr>
              <a:t>knowledge_documents, knowledge_chunks, knowledge_embeddings, qna_category, qna_item</a:t>
            </a:r>
            <a:endParaRPr lang="id-ID" sz="830"/>
          </a:p>
        </p:txBody>
      </p:sp>
      <p:sp>
        <p:nvSpPr>
          <p:cNvPr id="55" name="Text 55"/>
          <p:cNvSpPr txBox="1"/>
          <p:nvPr/>
        </p:nvSpPr>
        <p:spPr>
          <a:xfrm>
            <a:off x="6236208" y="4462272"/>
            <a:ext cx="4800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180"/>
              </a:spcAft>
            </a:pPr>
            <a:r>
              <a:rPr lang="id-ID" sz="1250" b="1">
                <a:solidFill>
                  <a:srgbClr val="153E75"/>
                </a:solidFill>
              </a:rPr>
              <a:t>Workflow</a:t>
            </a:r>
            <a:endParaRPr lang="id-ID" sz="1250"/>
          </a:p>
          <a:p>
            <a:pPr algn="l" marL="0" indent="0">
              <a:buNone/>
              <a:spcAft>
                <a:spcPts val="0"/>
              </a:spcAft>
            </a:pPr>
            <a:r>
              <a:rPr lang="id-ID" sz="830">
                <a:solidFill>
                  <a:srgbClr val="334155"/>
                </a:solidFill>
              </a:rPr>
              <a:t>ai_workflows, ai_workflow_runs, ai_workflow_node_runs, ai_workflow_logs</a:t>
            </a:r>
            <a:endParaRPr lang="id-ID" sz="830"/>
          </a:p>
        </p:txBody>
      </p:sp>
      <p:sp>
        <p:nvSpPr>
          <p:cNvPr id="907" name="Text 907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7</a:t>
            </a:r>
            <a:endParaRPr lang="id-ID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Relasi Data Utama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Pegawai menjadi pusat data, lalu terhubung ke unit kerja, riwayat, usulan, dan AI.</a:t>
            </a:r>
            <a:endParaRPr lang="id-ID" sz="1300"/>
          </a:p>
        </p:txBody>
      </p:sp>
      <p:sp>
        <p:nvSpPr>
          <p:cNvPr id="20" name="Text 20"/>
          <p:cNvSpPr txBox="1"/>
          <p:nvPr/>
        </p:nvSpPr>
        <p:spPr>
          <a:xfrm>
            <a:off x="822960" y="1828800"/>
            <a:ext cx="2194560" cy="685800"/>
          </a:xfrm>
          <a:prstGeom prst="round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0"/>
              </a:spcAft>
            </a:pPr>
            <a:r>
              <a:rPr lang="id-ID" sz="1700" b="1">
                <a:solidFill>
                  <a:srgbClr val="FFFFFF"/>
                </a:solidFill>
              </a:rPr>
              <a:t>UKPD</a:t>
            </a:r>
            <a:endParaRPr lang="id-ID" sz="1700"/>
          </a:p>
        </p:txBody>
      </p:sp>
      <p:sp>
        <p:nvSpPr>
          <p:cNvPr id="21" name="Text 21"/>
          <p:cNvSpPr txBox="1"/>
          <p:nvPr/>
        </p:nvSpPr>
        <p:spPr>
          <a:xfrm>
            <a:off x="4892040" y="1828800"/>
            <a:ext cx="2468880" cy="68580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0"/>
              </a:spcAft>
            </a:pPr>
            <a:r>
              <a:rPr lang="id-ID" sz="1700" b="1">
                <a:solidFill>
                  <a:srgbClr val="FFFFFF"/>
                </a:solidFill>
              </a:rPr>
              <a:t>PEGAWAI</a:t>
            </a:r>
            <a:endParaRPr lang="id-ID" sz="1700"/>
          </a:p>
        </p:txBody>
      </p:sp>
      <p:sp>
        <p:nvSpPr>
          <p:cNvPr id="22" name="Text 22"/>
          <p:cNvSpPr txBox="1"/>
          <p:nvPr/>
        </p:nvSpPr>
        <p:spPr>
          <a:xfrm>
            <a:off x="9006840" y="1234440"/>
            <a:ext cx="2240280" cy="658368"/>
          </a:xfrm>
          <a:prstGeom prst="roundRect">
            <a:avLst/>
          </a:prstGeom>
          <a:solidFill>
            <a:srgbClr val="0891B2"/>
          </a:solidFill>
          <a:ln w="9525">
            <a:solidFill>
              <a:srgbClr val="0891B2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0"/>
              </a:spcAft>
            </a:pPr>
            <a:r>
              <a:rPr lang="id-ID" sz="1250" b="1">
                <a:solidFill>
                  <a:srgbClr val="FFFFFF"/>
                </a:solidFill>
              </a:rPr>
              <a:t>DRH / Riwayat</a:t>
            </a:r>
            <a:endParaRPr lang="id-ID" sz="1250"/>
          </a:p>
        </p:txBody>
      </p:sp>
      <p:sp>
        <p:nvSpPr>
          <p:cNvPr id="23" name="Text 23"/>
          <p:cNvSpPr txBox="1"/>
          <p:nvPr/>
        </p:nvSpPr>
        <p:spPr>
          <a:xfrm>
            <a:off x="9006840" y="2240280"/>
            <a:ext cx="2240280" cy="658368"/>
          </a:xfrm>
          <a:prstGeom prst="round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0"/>
              </a:spcAft>
            </a:pPr>
            <a:r>
              <a:rPr lang="id-ID" sz="1250" b="1">
                <a:solidFill>
                  <a:srgbClr val="FFFFFF"/>
                </a:solidFill>
              </a:rPr>
              <a:t>Usulan</a:t>
            </a:r>
            <a:endParaRPr lang="id-ID" sz="1250"/>
          </a:p>
        </p:txBody>
      </p:sp>
      <p:sp>
        <p:nvSpPr>
          <p:cNvPr id="24" name="Text 24"/>
          <p:cNvSpPr txBox="1"/>
          <p:nvPr/>
        </p:nvSpPr>
        <p:spPr>
          <a:xfrm>
            <a:off x="9006840" y="3246120"/>
            <a:ext cx="2240280" cy="658368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0"/>
              </a:spcAft>
            </a:pPr>
            <a:r>
              <a:rPr lang="id-ID" sz="1250" b="1">
                <a:solidFill>
                  <a:srgbClr val="FFFFFF"/>
                </a:solidFill>
              </a:rPr>
              <a:t>Audit &amp; AI</a:t>
            </a:r>
            <a:endParaRPr lang="id-ID" sz="1250"/>
          </a:p>
        </p:txBody>
      </p:sp>
      <p:sp>
        <p:nvSpPr>
          <p:cNvPr id="25" name="Text 25"/>
          <p:cNvSpPr txBox="1"/>
          <p:nvPr/>
        </p:nvSpPr>
        <p:spPr>
          <a:xfrm>
            <a:off x="841248" y="4297680"/>
            <a:ext cx="10332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250"/>
              </a:spcAft>
            </a:pPr>
            <a:r>
              <a:rPr lang="id-ID" sz="1250" b="1">
                <a:solidFill>
                  <a:srgbClr val="153E75"/>
                </a:solidFill>
              </a:rPr>
              <a:t>Makna relasi:</a:t>
            </a:r>
            <a:endParaRPr lang="id-ID" sz="1250"/>
          </a:p>
          <a:p>
            <a:pPr algn="l" marL="0" indent="0">
              <a:buNone/>
              <a:spcAft>
                <a:spcPts val="0"/>
              </a:spcAft>
            </a:pPr>
            <a:r>
              <a:rPr lang="id-ID" sz="1120">
                <a:solidFill>
                  <a:srgbClr val="334155"/>
                </a:solidFill>
              </a:rPr>
              <a:t>Satu UKPD memiliki banyak pegawai. Setiap pegawai dapat memiliki banyak riwayat dan dokumen pendukung. Proses administrasi seperti mutasi, pemutusan JF, dan PLT/PLH memakai data pegawai sebagai referensi.</a:t>
            </a:r>
            <a:endParaRPr lang="id-ID" sz="1120"/>
          </a:p>
        </p:txBody>
      </p:sp>
      <p:sp>
        <p:nvSpPr>
          <p:cNvPr id="908" name="Text 908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8</a:t>
            </a:r>
            <a:endParaRPr lang="id-ID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Alur Kerja Sistem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Sistem mengutamakan validasi role, pembatasan data, dan pencatatan aktivitas.</a:t>
            </a:r>
            <a:endParaRPr lang="id-ID" sz="1300"/>
          </a:p>
        </p:txBody>
      </p:sp>
      <p:sp>
        <p:nvSpPr>
          <p:cNvPr id="30" name="Text 30"/>
          <p:cNvSpPr txBox="1"/>
          <p:nvPr/>
        </p:nvSpPr>
        <p:spPr>
          <a:xfrm>
            <a:off x="502920" y="2057400"/>
            <a:ext cx="1874520" cy="132588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100"/>
              </a:spcAft>
            </a:pPr>
            <a:r>
              <a:rPr lang="id-ID" sz="1200" b="1">
                <a:solidFill>
                  <a:srgbClr val="FFFFFF"/>
                </a:solidFill>
              </a:rPr>
              <a:t>1</a:t>
            </a:r>
            <a:endParaRPr lang="id-ID" sz="1200"/>
          </a:p>
          <a:p>
            <a:pPr algn="c" marL="0" indent="0">
              <a:buNone/>
              <a:spcAft>
                <a:spcPts val="120"/>
              </a:spcAft>
            </a:pPr>
            <a:r>
              <a:rPr lang="id-ID" sz="1150" b="1">
                <a:solidFill>
                  <a:srgbClr val="FFFFFF"/>
                </a:solidFill>
              </a:rPr>
              <a:t>Login</a:t>
            </a:r>
            <a:endParaRPr lang="id-ID" sz="1150"/>
          </a:p>
          <a:p>
            <a:pPr algn="c" marL="0" indent="0">
              <a:buNone/>
              <a:spcAft>
                <a:spcPts val="0"/>
              </a:spcAft>
            </a:pPr>
            <a:r>
              <a:rPr lang="id-ID" sz="780">
                <a:solidFill>
                  <a:srgbClr val="E0F2FE"/>
                </a:solidFill>
              </a:rPr>
              <a:t>User masuk dan sistem membaca role.</a:t>
            </a:r>
            <a:endParaRPr lang="id-ID" sz="780"/>
          </a:p>
        </p:txBody>
      </p:sp>
      <p:sp>
        <p:nvSpPr>
          <p:cNvPr id="31" name="Text 31"/>
          <p:cNvSpPr txBox="1"/>
          <p:nvPr/>
        </p:nvSpPr>
        <p:spPr>
          <a:xfrm>
            <a:off x="2788920" y="2057400"/>
            <a:ext cx="1874520" cy="1325880"/>
          </a:xfrm>
          <a:prstGeom prst="roundRect">
            <a:avLst/>
          </a:prstGeom>
          <a:solidFill>
            <a:srgbClr val="0891B2"/>
          </a:solidFill>
          <a:ln w="9525">
            <a:solidFill>
              <a:srgbClr val="0891B2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100"/>
              </a:spcAft>
            </a:pPr>
            <a:r>
              <a:rPr lang="id-ID" sz="1200" b="1">
                <a:solidFill>
                  <a:srgbClr val="FFFFFF"/>
                </a:solidFill>
              </a:rPr>
              <a:t>2</a:t>
            </a:r>
            <a:endParaRPr lang="id-ID" sz="1200"/>
          </a:p>
          <a:p>
            <a:pPr algn="c" marL="0" indent="0">
              <a:buNone/>
              <a:spcAft>
                <a:spcPts val="120"/>
              </a:spcAft>
            </a:pPr>
            <a:r>
              <a:rPr lang="id-ID" sz="1150" b="1">
                <a:solidFill>
                  <a:srgbClr val="FFFFFF"/>
                </a:solidFill>
              </a:rPr>
              <a:t>Scope Data</a:t>
            </a:r>
            <a:endParaRPr lang="id-ID" sz="1150"/>
          </a:p>
          <a:p>
            <a:pPr algn="c" marL="0" indent="0">
              <a:buNone/>
              <a:spcAft>
                <a:spcPts val="0"/>
              </a:spcAft>
            </a:pPr>
            <a:r>
              <a:rPr lang="id-ID" sz="780">
                <a:solidFill>
                  <a:srgbClr val="E0F2FE"/>
                </a:solidFill>
              </a:rPr>
              <a:t>Data difilter sesuai Super Admin, Wilayah, atau UKPD.</a:t>
            </a:r>
            <a:endParaRPr lang="id-ID" sz="780"/>
          </a:p>
        </p:txBody>
      </p:sp>
      <p:sp>
        <p:nvSpPr>
          <p:cNvPr id="32" name="Text 32"/>
          <p:cNvSpPr txBox="1"/>
          <p:nvPr/>
        </p:nvSpPr>
        <p:spPr>
          <a:xfrm>
            <a:off x="5074920" y="2057400"/>
            <a:ext cx="1874520" cy="132588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100"/>
              </a:spcAft>
            </a:pPr>
            <a:r>
              <a:rPr lang="id-ID" sz="1200" b="1">
                <a:solidFill>
                  <a:srgbClr val="FFFFFF"/>
                </a:solidFill>
              </a:rPr>
              <a:t>3</a:t>
            </a:r>
            <a:endParaRPr lang="id-ID" sz="1200"/>
          </a:p>
          <a:p>
            <a:pPr algn="c" marL="0" indent="0">
              <a:buNone/>
              <a:spcAft>
                <a:spcPts val="120"/>
              </a:spcAft>
            </a:pPr>
            <a:r>
              <a:rPr lang="id-ID" sz="1150" b="1">
                <a:solidFill>
                  <a:srgbClr val="FFFFFF"/>
                </a:solidFill>
              </a:rPr>
              <a:t>Kelola Data</a:t>
            </a:r>
            <a:endParaRPr lang="id-ID" sz="1150"/>
          </a:p>
          <a:p>
            <a:pPr algn="c" marL="0" indent="0">
              <a:buNone/>
              <a:spcAft>
                <a:spcPts val="0"/>
              </a:spcAft>
            </a:pPr>
            <a:r>
              <a:rPr lang="id-ID" sz="780">
                <a:solidFill>
                  <a:srgbClr val="E0F2FE"/>
                </a:solidFill>
              </a:rPr>
              <a:t>User membuka dashboard, pegawai, DRH, usulan, PLT/PLH.</a:t>
            </a:r>
            <a:endParaRPr lang="id-ID" sz="780"/>
          </a:p>
        </p:txBody>
      </p:sp>
      <p:sp>
        <p:nvSpPr>
          <p:cNvPr id="33" name="Text 33"/>
          <p:cNvSpPr txBox="1"/>
          <p:nvPr/>
        </p:nvSpPr>
        <p:spPr>
          <a:xfrm>
            <a:off x="7360920" y="2057400"/>
            <a:ext cx="1874520" cy="1325880"/>
          </a:xfrm>
          <a:prstGeom prst="roundRect">
            <a:avLst/>
          </a:prstGeom>
          <a:solidFill>
            <a:srgbClr val="0891B2"/>
          </a:solidFill>
          <a:ln w="9525">
            <a:solidFill>
              <a:srgbClr val="0891B2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100"/>
              </a:spcAft>
            </a:pPr>
            <a:r>
              <a:rPr lang="id-ID" sz="1200" b="1">
                <a:solidFill>
                  <a:srgbClr val="FFFFFF"/>
                </a:solidFill>
              </a:rPr>
              <a:t>4</a:t>
            </a:r>
            <a:endParaRPr lang="id-ID" sz="1200"/>
          </a:p>
          <a:p>
            <a:pPr algn="c" marL="0" indent="0">
              <a:buNone/>
              <a:spcAft>
                <a:spcPts val="120"/>
              </a:spcAft>
            </a:pPr>
            <a:r>
              <a:rPr lang="id-ID" sz="1150" b="1">
                <a:solidFill>
                  <a:srgbClr val="FFFFFF"/>
                </a:solidFill>
              </a:rPr>
              <a:t>Audit</a:t>
            </a:r>
            <a:endParaRPr lang="id-ID" sz="1150"/>
          </a:p>
          <a:p>
            <a:pPr algn="c" marL="0" indent="0">
              <a:buNone/>
              <a:spcAft>
                <a:spcPts val="0"/>
              </a:spcAft>
            </a:pPr>
            <a:r>
              <a:rPr lang="id-ID" sz="780">
                <a:solidFill>
                  <a:srgbClr val="E0F2FE"/>
                </a:solidFill>
              </a:rPr>
              <a:t>Perubahan penting dicatat ke audit log.</a:t>
            </a:r>
            <a:endParaRPr lang="id-ID" sz="780"/>
          </a:p>
        </p:txBody>
      </p:sp>
      <p:sp>
        <p:nvSpPr>
          <p:cNvPr id="34" name="Text 34"/>
          <p:cNvSpPr txBox="1"/>
          <p:nvPr/>
        </p:nvSpPr>
        <p:spPr>
          <a:xfrm>
            <a:off x="9646920" y="2057400"/>
            <a:ext cx="1874520" cy="132588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100"/>
              </a:spcAft>
            </a:pPr>
            <a:r>
              <a:rPr lang="id-ID" sz="1200" b="1">
                <a:solidFill>
                  <a:srgbClr val="FFFFFF"/>
                </a:solidFill>
              </a:rPr>
              <a:t>5</a:t>
            </a:r>
            <a:endParaRPr lang="id-ID" sz="1200"/>
          </a:p>
          <a:p>
            <a:pPr algn="c" marL="0" indent="0">
              <a:buNone/>
              <a:spcAft>
                <a:spcPts val="120"/>
              </a:spcAft>
            </a:pPr>
            <a:r>
              <a:rPr lang="id-ID" sz="1150" b="1">
                <a:solidFill>
                  <a:srgbClr val="FFFFFF"/>
                </a:solidFill>
              </a:rPr>
              <a:t>AI/n8n</a:t>
            </a:r>
            <a:endParaRPr lang="id-ID" sz="1150"/>
          </a:p>
          <a:p>
            <a:pPr algn="c" marL="0" indent="0">
              <a:buNone/>
              <a:spcAft>
                <a:spcPts val="0"/>
              </a:spcAft>
            </a:pPr>
            <a:r>
              <a:rPr lang="id-ID" sz="780">
                <a:solidFill>
                  <a:srgbClr val="E0F2FE"/>
                </a:solidFill>
              </a:rPr>
              <a:t>Pertanyaan dikirim ke n8n dan dijawab dari tool resmi.</a:t>
            </a:r>
            <a:endParaRPr lang="id-ID" sz="780"/>
          </a:p>
        </p:txBody>
      </p:sp>
      <p:sp>
        <p:nvSpPr>
          <p:cNvPr id="50" name="Text 50"/>
          <p:cNvSpPr txBox="1"/>
          <p:nvPr/>
        </p:nvSpPr>
        <p:spPr>
          <a:xfrm>
            <a:off x="777240" y="4645152"/>
            <a:ext cx="105156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" marL="0" indent="0">
              <a:buNone/>
              <a:spcAft>
                <a:spcPts val="0"/>
              </a:spcAft>
            </a:pPr>
            <a:r>
              <a:rPr lang="id-ID" sz="1350" b="1">
                <a:solidFill>
                  <a:srgbClr val="334155"/>
                </a:solidFill>
              </a:rPr>
              <a:t>Alur ini menjaga agar data yang tampil dan diproses selalu sesuai kewenangan pengguna.</a:t>
            </a:r>
            <a:endParaRPr lang="id-ID" sz="1350"/>
          </a:p>
        </p:txBody>
      </p:sp>
      <p:sp>
        <p:nvSpPr>
          <p:cNvPr id="909" name="Text 909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9</a:t>
            </a:r>
            <a:endParaRPr lang="id-ID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Hak Akses Pengguna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Setiap pengguna hanya boleh melihat data sesuai kewenangannya.</a:t>
            </a:r>
            <a:endParaRPr lang="id-ID" sz="1300"/>
          </a:p>
        </p:txBody>
      </p:sp>
      <p:sp>
        <p:nvSpPr>
          <p:cNvPr id="20" name="Accent Bar"/>
          <p:cNvSpPr/>
          <p:nvPr/>
        </p:nvSpPr>
        <p:spPr>
          <a:xfrm>
            <a:off x="566928" y="1847088"/>
            <a:ext cx="109728" cy="4315968"/>
          </a:xfrm>
          <a:prstGeom prst="round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" y="1874520"/>
            <a:ext cx="10469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Super Admin dapat melihat dan mengelola seluruh data lintas UKPD dan wilayah.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Admin Wilayah dibatasi pada data pegawai di wilayah yang menjadi tanggung jawabnya.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Admin UKPD dibatasi pada pegawai di UKPD masing-masing.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Public user hanya dapat mengakses QnA publik dan tidak boleh membaca data pegawai.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Scope akses ikut dikirim ke tool AI agar AI tetap patuh terhadap batas kewenangan.</a:t>
            </a:r>
            <a:endParaRPr lang="id-ID" sz="1450"/>
          </a:p>
        </p:txBody>
      </p:sp>
      <p:sp>
        <p:nvSpPr>
          <p:cNvPr id="910" name="Text 910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10</a:t>
            </a:r>
            <a:endParaRPr lang="id-ID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Keamanan dan Audit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Sistem dirancang agar perubahan data dapat ditelusuri.</a:t>
            </a:r>
            <a:endParaRPr lang="id-ID" sz="1300"/>
          </a:p>
        </p:txBody>
      </p:sp>
      <p:sp>
        <p:nvSpPr>
          <p:cNvPr id="20" name="Accent Bar"/>
          <p:cNvSpPr/>
          <p:nvPr/>
        </p:nvSpPr>
        <p:spPr>
          <a:xfrm>
            <a:off x="566928" y="1847088"/>
            <a:ext cx="109728" cy="4315968"/>
          </a:xfrm>
          <a:prstGeom prst="roundRect">
            <a:avLst/>
          </a:prstGeom>
          <a:solidFill>
            <a:srgbClr val="DC2626"/>
          </a:solidFill>
          <a:ln w="9525">
            <a:solidFill>
              <a:srgbClr val="DC2626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" y="1874520"/>
            <a:ext cx="10469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Autentikasi menggunakan akun aplikasi dan token/cookie aman.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Role-based access control diterapkan pada halaman dan API.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Aktivitas penting dicatat di audit_logs dan ai audit log.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Data sensitif seperti NIK, NIP, NRK, dan nomor kontak dapat dimasking saat dipakai AI.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AI tidak boleh langsung mengubah tabel pegawai; perubahan harus melalui draft dan approval.</a:t>
            </a:r>
            <a:endParaRPr lang="id-ID" sz="1450"/>
          </a:p>
        </p:txBody>
      </p:sp>
      <p:sp>
        <p:nvSpPr>
          <p:cNvPr id="911" name="Text 911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11</a:t>
            </a:r>
            <a:endParaRPr lang="id-ID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Integrasi AI dan n8n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AI bekerja melalui workflow resmi, bukan langsung menulis ke database.</a:t>
            </a:r>
            <a:endParaRPr lang="id-ID" sz="1300"/>
          </a:p>
        </p:txBody>
      </p:sp>
      <p:sp>
        <p:nvSpPr>
          <p:cNvPr id="20" name="Text 20"/>
          <p:cNvSpPr txBox="1"/>
          <p:nvPr/>
        </p:nvSpPr>
        <p:spPr>
          <a:xfrm>
            <a:off x="685800" y="1828800"/>
            <a:ext cx="288036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350" b="1">
                <a:solidFill>
                  <a:srgbClr val="153E75"/>
                </a:solidFill>
              </a:rPr>
              <a:t>Input</a:t>
            </a:r>
            <a:endParaRPr lang="id-ID" sz="13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Chat internal</a:t>
            </a:r>
            <a:endParaRPr lang="id-ID" sz="10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Public QnA</a:t>
            </a:r>
            <a:endParaRPr lang="id-ID" sz="10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Dokumen pegawai</a:t>
            </a:r>
            <a:endParaRPr lang="id-ID" sz="1050"/>
          </a:p>
        </p:txBody>
      </p:sp>
      <p:sp>
        <p:nvSpPr>
          <p:cNvPr id="21" name="Text 21"/>
          <p:cNvSpPr txBox="1"/>
          <p:nvPr/>
        </p:nvSpPr>
        <p:spPr>
          <a:xfrm>
            <a:off x="4617720" y="1828800"/>
            <a:ext cx="288036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350" b="1">
                <a:solidFill>
                  <a:srgbClr val="153E75"/>
                </a:solidFill>
              </a:rPr>
              <a:t>n8n Orchestrator</a:t>
            </a:r>
            <a:endParaRPr lang="id-ID" sz="13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Klasifikasi intent</a:t>
            </a:r>
            <a:endParaRPr lang="id-ID" sz="10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Ekstraksi entity</a:t>
            </a:r>
            <a:endParaRPr lang="id-ID" sz="10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Panggil tool internal</a:t>
            </a:r>
            <a:endParaRPr lang="id-ID" sz="10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Verifikasi hasil</a:t>
            </a:r>
            <a:endParaRPr lang="id-ID" sz="1050"/>
          </a:p>
        </p:txBody>
      </p:sp>
      <p:sp>
        <p:nvSpPr>
          <p:cNvPr id="22" name="Text 22"/>
          <p:cNvSpPr txBox="1"/>
          <p:nvPr/>
        </p:nvSpPr>
        <p:spPr>
          <a:xfrm>
            <a:off x="8549640" y="1828800"/>
            <a:ext cx="288036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350" b="1">
                <a:solidFill>
                  <a:srgbClr val="153E75"/>
                </a:solidFill>
              </a:rPr>
              <a:t>Output</a:t>
            </a:r>
            <a:endParaRPr lang="id-ID" sz="13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Jawaban berbasis data</a:t>
            </a:r>
            <a:endParaRPr lang="id-ID" sz="10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Confidence score</a:t>
            </a:r>
            <a:endParaRPr lang="id-ID" sz="10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Audit log</a:t>
            </a:r>
            <a:endParaRPr lang="id-ID" sz="1050"/>
          </a:p>
          <a:p>
            <a:pPr algn="l" marL="285750" indent="-171450">
              <a:buChar char="•"/>
              <a:spcAft>
                <a:spcPts val="500"/>
              </a:spcAft>
            </a:pPr>
            <a:r>
              <a:rPr lang="id-ID" sz="1050">
                <a:solidFill>
                  <a:srgbClr val="334155"/>
                </a:solidFill>
              </a:rPr>
              <a:t>Draft approval bila ada perubahan</a:t>
            </a:r>
            <a:endParaRPr lang="id-ID" sz="1050"/>
          </a:p>
        </p:txBody>
      </p:sp>
      <p:sp>
        <p:nvSpPr>
          <p:cNvPr id="912" name="Text 912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12</a:t>
            </a:r>
            <a:endParaRPr lang="id-ID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Dokumen AI dan Knowledge Base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Sistem mendukung ekstraksi dokumen dan pengetahuan berbasis RAG.</a:t>
            </a:r>
            <a:endParaRPr lang="id-ID" sz="1300"/>
          </a:p>
        </p:txBody>
      </p:sp>
      <p:sp>
        <p:nvSpPr>
          <p:cNvPr id="20" name="Accent Bar"/>
          <p:cNvSpPr/>
          <p:nvPr/>
        </p:nvSpPr>
        <p:spPr>
          <a:xfrm>
            <a:off x="566928" y="1847088"/>
            <a:ext cx="109728" cy="4315968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" y="1874520"/>
            <a:ext cx="10469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Dokumen dapat disimpan di ai_documents lengkap dengan metadata file, hash, status, dan klasifikasi.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Hasil ekstraksi AI disimpan di ai_extraction_results dan masuk ke ai_validation_queue untuk review admin.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Knowledge base disimpan sebagai dokumen, chunk, dan embedding.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pg_trgm membantu fuzzy search ketika nama atau kata kunci salah ketik.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pgvector disiapkan untuk pencarian berbasis embedding.</a:t>
            </a:r>
            <a:endParaRPr lang="id-ID" sz="1450"/>
          </a:p>
        </p:txBody>
      </p:sp>
      <p:sp>
        <p:nvSpPr>
          <p:cNvPr id="913" name="Text 913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13</a:t>
            </a:r>
            <a:endParaRPr lang="id-ID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Keunggulan Sistem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Nilai utama sistem untuk operasional SDM kesehatan.</a:t>
            </a:r>
            <a:endParaRPr lang="id-ID" sz="1300"/>
          </a:p>
        </p:txBody>
      </p:sp>
      <p:sp>
        <p:nvSpPr>
          <p:cNvPr id="20" name="Accent Bar"/>
          <p:cNvSpPr/>
          <p:nvPr/>
        </p:nvSpPr>
        <p:spPr>
          <a:xfrm>
            <a:off x="566928" y="1847088"/>
            <a:ext cx="109728" cy="4315968"/>
          </a:xfrm>
          <a:prstGeom prst="round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" y="1874520"/>
            <a:ext cx="10469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Data SDM kesehatan lebih terstruktur dan terpusat.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Mendukung pengambilan keputusan dari dashboard dan ringkasan data.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Proses administrasi kepegawaian lebih mudah dipantau.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Akses data lebih aman karena mengikuti role dan scope organisasi.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Siap dikembangkan menjadi HRIS berbasis AI dengan workflow n8n.</a:t>
            </a:r>
            <a:endParaRPr lang="id-ID" sz="1450"/>
          </a:p>
        </p:txBody>
      </p:sp>
      <p:sp>
        <p:nvSpPr>
          <p:cNvPr id="914" name="Text 914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14</a:t>
            </a:r>
            <a:endParaRPr lang="id-ID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Rencana Pengembangan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Beberapa arah pengembangan yang sudah disiapkan oleh arsitektur sistem.</a:t>
            </a:r>
            <a:endParaRPr lang="id-ID" sz="1300"/>
          </a:p>
        </p:txBody>
      </p:sp>
      <p:sp>
        <p:nvSpPr>
          <p:cNvPr id="20" name="Accent Bar"/>
          <p:cNvSpPr/>
          <p:nvPr/>
        </p:nvSpPr>
        <p:spPr>
          <a:xfrm>
            <a:off x="566928" y="1847088"/>
            <a:ext cx="109728" cy="4315968"/>
          </a:xfrm>
          <a:prstGeom prst="roundRect">
            <a:avLst/>
          </a:prstGeom>
          <a:solidFill>
            <a:srgbClr val="0891B2"/>
          </a:solidFill>
          <a:ln w="9525">
            <a:solidFill>
              <a:srgbClr val="0891B2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" y="1874520"/>
            <a:ext cx="10469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Penyempurnaan approval executor untuk perubahan data yang diusulkan AI.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Penguatan dashboard analitik berdasarkan UKPD, wilayah, jabatan, pendidikan, dan status pegawai.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Integrasi dokumen kepegawaian dengan validasi AI yang tetap direview manusia.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Perluasan knowledge base internal untuk kebijakan dan SOP kepegawaian.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Optimasi pencarian pegawai dengan fuzzy search dan vector search.</a:t>
            </a:r>
            <a:endParaRPr lang="id-ID" sz="1450"/>
          </a:p>
        </p:txBody>
      </p:sp>
      <p:sp>
        <p:nvSpPr>
          <p:cNvPr id="915" name="Text 915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15</a:t>
            </a:r>
            <a:endParaRPr lang="id-ID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500"/>
              </a:spcAft>
            </a:pPr>
            <a:r>
              <a:rPr lang="id-ID" sz="1200" b="1">
                <a:solidFill>
                  <a:srgbClr val="FFFFFF"/>
                </a:solidFill>
              </a:rPr>
              <a:t>Sistem Informasi SDM Kesehatan DKI Jakarta</a:t>
            </a:r>
            <a:endParaRPr lang="id-ID" sz="1200"/>
          </a:p>
        </p:txBody>
      </p:sp>
      <p:sp>
        <p:nvSpPr>
          <p:cNvPr id="4" name="Text 4"/>
          <p:cNvSpPr txBox="1"/>
          <p:nvPr/>
        </p:nvSpPr>
        <p:spPr>
          <a:xfrm>
            <a:off x="566928" y="8412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2800" b="1">
                <a:solidFill>
                  <a:srgbClr val="153E75"/>
                </a:solidFill>
              </a:rPr>
              <a:t>Kesimpulan</a:t>
            </a:r>
            <a:endParaRPr lang="id-ID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35024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id-ID" sz="1300">
                <a:solidFill>
                  <a:srgbClr val="64748B"/>
                </a:solidFill>
              </a:rPr>
              <a:t>Sistem ini adalah fondasi HRIS modern untuk SDM Kesehatan DKI Jakarta.</a:t>
            </a:r>
            <a:endParaRPr lang="id-ID" sz="1300"/>
          </a:p>
        </p:txBody>
      </p:sp>
      <p:sp>
        <p:nvSpPr>
          <p:cNvPr id="20" name="Accent Bar"/>
          <p:cNvSpPr/>
          <p:nvPr/>
        </p:nvSpPr>
        <p:spPr>
          <a:xfrm>
            <a:off x="566928" y="1847088"/>
            <a:ext cx="109728" cy="4315968"/>
          </a:xfrm>
          <a:prstGeom prst="roundRect">
            <a:avLst/>
          </a:prstGeom>
          <a:solidFill>
            <a:srgbClr val="153E75"/>
          </a:solidFill>
          <a:ln w="9525">
            <a:solidFill>
              <a:srgbClr val="153E75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" y="1874520"/>
            <a:ext cx="10469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Aplikasi menggabungkan manajemen data pegawai, DRH, usulan, monitoring jabatan, keamanan, audit, dan AI.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Database berpusat pada tabel pegawai dan UKPD, lalu diperluas ke riwayat, administrasi, chat, knowledge base, dan workflow.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Model keamanan memastikan data hanya tampil sesuai kewenangan.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Integrasi AI/n8n membantu pencarian dan ringkasan data tanpa mengorbankan kontrol perubahan.</a:t>
            </a:r>
            <a:endParaRPr lang="id-ID" sz="1450"/>
          </a:p>
          <a:p>
            <a:pPr algn="l" marL="285750" indent="-171450">
              <a:buChar char="•"/>
              <a:spcAft>
                <a:spcPts val="650"/>
              </a:spcAft>
            </a:pPr>
            <a:r>
              <a:rPr lang="id-ID" sz="1450">
                <a:solidFill>
                  <a:srgbClr val="334155"/>
                </a:solidFill>
              </a:rPr>
              <a:t>Sistem siap menjadi platform kerja administrasi SDM yang lebih cepat, akurat, dan akuntabel.</a:t>
            </a:r>
            <a:endParaRPr lang="id-ID" sz="1450"/>
          </a:p>
        </p:txBody>
      </p:sp>
      <p:sp>
        <p:nvSpPr>
          <p:cNvPr id="916" name="Text 916"/>
          <p:cNvSpPr txBox="1"/>
          <p:nvPr/>
        </p:nvSpPr>
        <p:spPr>
          <a:xfrm>
            <a:off x="10744200" y="64190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 marL="0" indent="0">
              <a:buNone/>
              <a:spcAft>
                <a:spcPts val="0"/>
              </a:spcAft>
            </a:pPr>
            <a:r>
              <a:rPr lang="id-ID" sz="900">
                <a:solidFill>
                  <a:srgbClr val="64748B"/>
                </a:solidFill>
              </a:rPr>
              <a:t>16</a:t>
            </a:r>
            <a:endParaRPr lang="id-ID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 SDMK Theme">
  <a:themeElements>
    <a:clrScheme name="SI SDMK">
      <a:dk1>
        <a:srgbClr val="0F172A"/>
      </a:dk1>
      <a:lt1>
        <a:srgbClr val="FFFFFF"/>
      </a:lt1>
      <a:dk2>
        <a:srgbClr val="153E75"/>
      </a:dk2>
      <a:lt2>
        <a:srgbClr val="F8FAFC"/>
      </a:lt2>
      <a:accent1>
        <a:srgbClr val="2563EB"/>
      </a:accent1>
      <a:accent2>
        <a:srgbClr val="0891B2"/>
      </a:accent2>
      <a:accent3>
        <a:srgbClr val="16A34A"/>
      </a:accent3>
      <a:accent4>
        <a:srgbClr val="D97706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PPTX Generator</Application>
  <PresentationFormat>On-screen Show (16:9)</PresentationFormat>
  <Slides>16</Slides>
  <Company>Dinas Kesehatan Provinsi DKI Jakarta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Sistem Informasi SDM Kesehatan</dc:title>
  <dc:creator>Codex</dc:creator>
  <cp:lastModifiedBy>Codex</cp:lastModifiedBy>
  <dcterms:created xsi:type="dcterms:W3CDTF">2026-05-23T02:54:34.856Z</dcterms:created>
  <dcterms:modified xsi:type="dcterms:W3CDTF">2026-05-23T02:54:34.857Z</dcterms:modified>
</cp:coreProperties>
</file>